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051560"/>
            <a:ext cx="658368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200" b="1">
                <a:solidFill>
                  <a:srgbClr val="F0F4FC"/>
                </a:solidFill>
                <a:latin typeface="Aptos"/>
              </a:rPr>
              <a:t>AI ITSM
HELPDESK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834640"/>
            <a:ext cx="73152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4CC9F0"/>
                </a:solidFill>
                <a:latin typeface="Aptos"/>
              </a:rPr>
              <a:t>From employee request → AI decision → automated resolution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3456432"/>
            <a:ext cx="6858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A5B0C8"/>
                </a:solidFill>
                <a:latin typeface="Aptos"/>
              </a:rPr>
              <a:t>Intelligent • Grounded • Auditable • Automation-ready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4160520"/>
            <a:ext cx="2057400" cy="347472"/>
          </a:xfrm>
          <a:prstGeom prst="roundRect">
            <a:avLst/>
          </a:prstGeom>
          <a:solidFill>
            <a:srgbClr val="19233C"/>
          </a:solidFill>
          <a:ln>
            <a:solidFill>
              <a:srgbClr val="7E5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4178807"/>
            <a:ext cx="2057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1">
                <a:solidFill>
                  <a:srgbClr val="7E57C2"/>
                </a:solidFill>
                <a:latin typeface="Aptos"/>
              </a:rPr>
              <a:t>HACKATHON PROTOTYPE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80060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A5B0C8"/>
                </a:solidFill>
                <a:latin typeface="Aptos"/>
              </a:rPr>
              <a:t>React.js • FastAPI • MongoDB Atlas • Hugging Face • RAG • FAISS • ServiceNow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75320" y="1234440"/>
            <a:ext cx="1325880" cy="1051560"/>
          </a:xfrm>
          <a:prstGeom prst="roundRect">
            <a:avLst/>
          </a:prstGeom>
          <a:solidFill>
            <a:srgbClr val="141B30"/>
          </a:solidFill>
          <a:ln>
            <a:solidFill>
              <a:srgbClr val="4CC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75320" y="1618488"/>
            <a:ext cx="1325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4CC9F0"/>
                </a:solidFill>
                <a:latin typeface="Aptos"/>
              </a:rPr>
              <a:t>ASK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829800" y="1234440"/>
            <a:ext cx="1325880" cy="1051560"/>
          </a:xfrm>
          <a:prstGeom prst="roundRect">
            <a:avLst/>
          </a:prstGeom>
          <a:solidFill>
            <a:srgbClr val="141B30"/>
          </a:solidFill>
          <a:ln>
            <a:solidFill>
              <a:srgbClr val="7E5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829800" y="1618488"/>
            <a:ext cx="1325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7E57C2"/>
                </a:solidFill>
                <a:latin typeface="Aptos"/>
              </a:rPr>
              <a:t>UNDERSTAND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75320" y="2743200"/>
            <a:ext cx="1325880" cy="1051560"/>
          </a:xfrm>
          <a:prstGeom prst="roundRect">
            <a:avLst/>
          </a:prstGeom>
          <a:solidFill>
            <a:srgbClr val="141B30"/>
          </a:solidFill>
          <a:ln>
            <a:solidFill>
              <a:srgbClr val="3DD6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75320" y="3127248"/>
            <a:ext cx="1325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3DD68C"/>
                </a:solidFill>
                <a:latin typeface="Aptos"/>
              </a:rPr>
              <a:t>AUTOMATE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829800" y="2743200"/>
            <a:ext cx="1325880" cy="1051560"/>
          </a:xfrm>
          <a:prstGeom prst="roundRect">
            <a:avLst/>
          </a:prstGeom>
          <a:solidFill>
            <a:srgbClr val="141B30"/>
          </a:solidFill>
          <a:ln>
            <a:solidFill>
              <a:srgbClr val="FFA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829800" y="3127248"/>
            <a:ext cx="1325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FAE50"/>
                </a:solidFill>
                <a:latin typeface="Aptos"/>
              </a:rPr>
              <a:t>RESOLVE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55680" y="6419088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A5B0C8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F0F4FC"/>
                </a:solidFill>
                <a:latin typeface="Aptos"/>
              </a:rPr>
              <a:t>The IT Support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87552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A5B0C8"/>
                </a:solidFill>
                <a:latin typeface="Aptos"/>
              </a:rPr>
              <a:t>Repetitive work consumes support capacity.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600200"/>
            <a:ext cx="5257800" cy="1600200"/>
          </a:xfrm>
          <a:prstGeom prst="roundRect">
            <a:avLst/>
          </a:prstGeom>
          <a:solidFill>
            <a:srgbClr val="141B30"/>
          </a:solidFill>
          <a:ln>
            <a:solidFill>
              <a:srgbClr val="2731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600200"/>
            <a:ext cx="64008" cy="1600200"/>
          </a:xfrm>
          <a:prstGeom prst="rect">
            <a:avLst/>
          </a:prstGeom>
          <a:solidFill>
            <a:srgbClr val="4CC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764792"/>
            <a:ext cx="4846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F0F4FC"/>
                </a:solidFill>
                <a:latin typeface="Aptos"/>
              </a:rPr>
              <a:t>Manual triage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167128"/>
            <a:ext cx="48463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 b="0">
                <a:solidFill>
                  <a:srgbClr val="A5B0C8"/>
                </a:solidFill>
                <a:latin typeface="Aptos"/>
              </a:rPr>
              <a:t>Tickets must be read, categorized and routed.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00200"/>
            <a:ext cx="5257800" cy="1600200"/>
          </a:xfrm>
          <a:prstGeom prst="roundRect">
            <a:avLst/>
          </a:prstGeom>
          <a:solidFill>
            <a:srgbClr val="141B30"/>
          </a:solidFill>
          <a:ln>
            <a:solidFill>
              <a:srgbClr val="2731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0" y="1600200"/>
            <a:ext cx="64008" cy="1600200"/>
          </a:xfrm>
          <a:prstGeom prst="rect">
            <a:avLst/>
          </a:prstGeom>
          <a:solidFill>
            <a:srgbClr val="7E57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764792"/>
            <a:ext cx="4846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F0F4FC"/>
                </a:solidFill>
                <a:latin typeface="Aptos"/>
              </a:rPr>
              <a:t>Scattered knowledge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2167128"/>
            <a:ext cx="48463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 b="0">
                <a:solidFill>
                  <a:srgbClr val="A5B0C8"/>
                </a:solidFill>
                <a:latin typeface="Aptos"/>
              </a:rPr>
              <a:t>Solutions live across documents and teams.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566160"/>
            <a:ext cx="5257800" cy="1600200"/>
          </a:xfrm>
          <a:prstGeom prst="roundRect">
            <a:avLst/>
          </a:prstGeom>
          <a:solidFill>
            <a:srgbClr val="141B30"/>
          </a:solidFill>
          <a:ln>
            <a:solidFill>
              <a:srgbClr val="2731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3566160"/>
            <a:ext cx="64008" cy="1600200"/>
          </a:xfrm>
          <a:prstGeom prst="rect">
            <a:avLst/>
          </a:prstGeom>
          <a:solidFill>
            <a:srgbClr val="FFA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730752"/>
            <a:ext cx="4846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F0F4FC"/>
                </a:solidFill>
                <a:latin typeface="Aptos"/>
              </a:rPr>
              <a:t>Slow resolution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133087"/>
            <a:ext cx="48463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 b="0">
                <a:solidFill>
                  <a:srgbClr val="A5B0C8"/>
                </a:solidFill>
                <a:latin typeface="Aptos"/>
              </a:rPr>
              <a:t>Repetitive issues wait for human action.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3566160"/>
            <a:ext cx="5257800" cy="1600200"/>
          </a:xfrm>
          <a:prstGeom prst="roundRect">
            <a:avLst/>
          </a:prstGeom>
          <a:solidFill>
            <a:srgbClr val="141B30"/>
          </a:solidFill>
          <a:ln>
            <a:solidFill>
              <a:srgbClr val="2731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7920" y="3566160"/>
            <a:ext cx="64008" cy="1600200"/>
          </a:xfrm>
          <a:prstGeom prst="rect">
            <a:avLst/>
          </a:prstGeom>
          <a:solidFill>
            <a:srgbClr val="3DD6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3730752"/>
            <a:ext cx="4846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F0F4FC"/>
                </a:solidFill>
                <a:latin typeface="Aptos"/>
              </a:rPr>
              <a:t>Limited automation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4133087"/>
            <a:ext cx="48463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 b="0">
                <a:solidFill>
                  <a:srgbClr val="A5B0C8"/>
                </a:solidFill>
                <a:latin typeface="Aptos"/>
              </a:rPr>
              <a:t>Actions need control, validation and auditability.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5806440"/>
            <a:ext cx="10607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F0F4FC"/>
                </a:solidFill>
                <a:latin typeface="Aptos"/>
              </a:rPr>
              <a:t>Goal: make the first layer of IT support intelligent — without giving AI uncontrolled access.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55680" y="6419088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A5B0C8"/>
                </a:solidFill>
                <a:latin typeface="Apto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F0F4FC"/>
                </a:solidFill>
                <a:latin typeface="Aptos"/>
              </a:rPr>
              <a:t>Our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87552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A5B0C8"/>
                </a:solidFill>
                <a:latin typeface="Aptos"/>
              </a:rPr>
              <a:t>One conversational entry point for enterprise IT support.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2011680"/>
            <a:ext cx="1600200" cy="1188720"/>
          </a:xfrm>
          <a:prstGeom prst="roundRect">
            <a:avLst/>
          </a:prstGeom>
          <a:solidFill>
            <a:srgbClr val="141B30"/>
          </a:solidFill>
          <a:ln>
            <a:solidFill>
              <a:srgbClr val="4CC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194560"/>
            <a:ext cx="1600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100" b="1">
                <a:solidFill>
                  <a:srgbClr val="4CC9F0"/>
                </a:solidFill>
                <a:latin typeface="Aptos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6072" y="2578608"/>
            <a:ext cx="1453896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1">
                <a:solidFill>
                  <a:srgbClr val="F0F4FC"/>
                </a:solidFill>
                <a:latin typeface="Aptos"/>
              </a:rPr>
              <a:t>Employee request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423160" y="2011680"/>
            <a:ext cx="1600200" cy="1188720"/>
          </a:xfrm>
          <a:prstGeom prst="roundRect">
            <a:avLst/>
          </a:prstGeom>
          <a:solidFill>
            <a:srgbClr val="141B30"/>
          </a:solidFill>
          <a:ln>
            <a:solidFill>
              <a:srgbClr val="4CC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423160" y="2194560"/>
            <a:ext cx="1600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100" b="1">
                <a:solidFill>
                  <a:srgbClr val="4CC9F0"/>
                </a:solidFill>
                <a:latin typeface="Aptos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96312" y="2578608"/>
            <a:ext cx="1453896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1">
                <a:solidFill>
                  <a:srgbClr val="F0F4FC"/>
                </a:solidFill>
                <a:latin typeface="Aptos"/>
              </a:rPr>
              <a:t>AI understands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2011680"/>
            <a:ext cx="1600200" cy="1188720"/>
          </a:xfrm>
          <a:prstGeom prst="roundRect">
            <a:avLst/>
          </a:prstGeom>
          <a:solidFill>
            <a:srgbClr val="141B30"/>
          </a:solidFill>
          <a:ln>
            <a:solidFill>
              <a:srgbClr val="4CC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43400" y="2194560"/>
            <a:ext cx="1600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100" b="1">
                <a:solidFill>
                  <a:srgbClr val="4CC9F0"/>
                </a:solidFill>
                <a:latin typeface="Aptos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16552" y="2578608"/>
            <a:ext cx="1453896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1">
                <a:solidFill>
                  <a:srgbClr val="F0F4FC"/>
                </a:solidFill>
                <a:latin typeface="Aptos"/>
              </a:rPr>
              <a:t>Knowledge retrieval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2011680"/>
            <a:ext cx="1600200" cy="1188720"/>
          </a:xfrm>
          <a:prstGeom prst="roundRect">
            <a:avLst/>
          </a:prstGeom>
          <a:solidFill>
            <a:srgbClr val="141B30"/>
          </a:solidFill>
          <a:ln>
            <a:solidFill>
              <a:srgbClr val="4CC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63640" y="2194560"/>
            <a:ext cx="1600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100" b="1">
                <a:solidFill>
                  <a:srgbClr val="4CC9F0"/>
                </a:solidFill>
                <a:latin typeface="Aptos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36792" y="2578608"/>
            <a:ext cx="1453896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1">
                <a:solidFill>
                  <a:srgbClr val="F0F4FC"/>
                </a:solidFill>
                <a:latin typeface="Aptos"/>
              </a:rPr>
              <a:t>Decision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83880" y="2011680"/>
            <a:ext cx="1600200" cy="1188720"/>
          </a:xfrm>
          <a:prstGeom prst="roundRect">
            <a:avLst/>
          </a:prstGeom>
          <a:solidFill>
            <a:srgbClr val="141B30"/>
          </a:solidFill>
          <a:ln>
            <a:solidFill>
              <a:srgbClr val="3DD6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83880" y="2194560"/>
            <a:ext cx="1600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100" b="1">
                <a:solidFill>
                  <a:srgbClr val="3DD68C"/>
                </a:solidFill>
                <a:latin typeface="Aptos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57032" y="2578608"/>
            <a:ext cx="1453896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1">
                <a:solidFill>
                  <a:srgbClr val="F0F4FC"/>
                </a:solidFill>
                <a:latin typeface="Aptos"/>
              </a:rPr>
              <a:t>Automation / Ticket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104120" y="2011680"/>
            <a:ext cx="1600200" cy="1188720"/>
          </a:xfrm>
          <a:prstGeom prst="roundRect">
            <a:avLst/>
          </a:prstGeom>
          <a:solidFill>
            <a:srgbClr val="141B30"/>
          </a:solidFill>
          <a:ln>
            <a:solidFill>
              <a:srgbClr val="3DD6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04120" y="2194560"/>
            <a:ext cx="1600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100" b="1">
                <a:solidFill>
                  <a:srgbClr val="3DD68C"/>
                </a:solidFill>
                <a:latin typeface="Aptos"/>
              </a:rPr>
              <a:t>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177272" y="2578608"/>
            <a:ext cx="1453896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1">
                <a:solidFill>
                  <a:srgbClr val="F0F4FC"/>
                </a:solidFill>
                <a:latin typeface="Aptos"/>
              </a:rPr>
              <a:t>Audit &amp; resolution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160520"/>
            <a:ext cx="10332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900" b="1">
                <a:solidFill>
                  <a:srgbClr val="F0F4FC"/>
                </a:solidFill>
                <a:latin typeface="Aptos"/>
              </a:rPr>
              <a:t>The product is more than a chatbot: it connects understanding, knowledge, decision-making and controlled IT operations.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55680" y="6419088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A5B0C8"/>
                </a:solidFill>
                <a:latin typeface="Apto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F0F4FC"/>
                </a:solidFill>
                <a:latin typeface="Aptos"/>
              </a:rP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87552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A5B0C8"/>
                </a:solidFill>
                <a:latin typeface="Aptos"/>
              </a:rPr>
              <a:t>AI sits between the employee experience and enterprise IT operations.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417320"/>
            <a:ext cx="10241280" cy="896112"/>
          </a:xfrm>
          <a:prstGeom prst="roundRect">
            <a:avLst/>
          </a:prstGeom>
          <a:solidFill>
            <a:srgbClr val="141B30"/>
          </a:solidFill>
          <a:ln>
            <a:solidFill>
              <a:srgbClr val="2731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1417320"/>
            <a:ext cx="64008" cy="896112"/>
          </a:xfrm>
          <a:prstGeom prst="rect">
            <a:avLst/>
          </a:prstGeom>
          <a:solidFill>
            <a:srgbClr val="4CC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1581912"/>
            <a:ext cx="9829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F0F4FC"/>
                </a:solidFill>
                <a:latin typeface="Aptos"/>
              </a:rPr>
              <a:t>FRONTEND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1984248"/>
            <a:ext cx="9829800" cy="21031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 b="0">
                <a:solidFill>
                  <a:srgbClr val="A5B0C8"/>
                </a:solidFill>
                <a:latin typeface="Aptos"/>
              </a:rPr>
              <a:t>React.js  |  Employee Portal • AI Analysis • Knowledge • Dashboard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587752"/>
            <a:ext cx="10241280" cy="896112"/>
          </a:xfrm>
          <a:prstGeom prst="roundRect">
            <a:avLst/>
          </a:prstGeom>
          <a:solidFill>
            <a:srgbClr val="141B30"/>
          </a:solidFill>
          <a:ln>
            <a:solidFill>
              <a:srgbClr val="2731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14400" y="2587752"/>
            <a:ext cx="64008" cy="896112"/>
          </a:xfrm>
          <a:prstGeom prst="rect">
            <a:avLst/>
          </a:prstGeom>
          <a:solidFill>
            <a:srgbClr val="7E57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2752344"/>
            <a:ext cx="9829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F0F4FC"/>
                </a:solidFill>
                <a:latin typeface="Aptos"/>
              </a:rPr>
              <a:t>BACKEND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3154680"/>
            <a:ext cx="9829800" cy="21031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 b="0">
                <a:solidFill>
                  <a:srgbClr val="A5B0C8"/>
                </a:solidFill>
                <a:latin typeface="Aptos"/>
              </a:rPr>
              <a:t>FastAPI  |  REST APIs • Workflow orchestration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3758184"/>
            <a:ext cx="10241280" cy="896112"/>
          </a:xfrm>
          <a:prstGeom prst="roundRect">
            <a:avLst/>
          </a:prstGeom>
          <a:solidFill>
            <a:srgbClr val="141B30"/>
          </a:solidFill>
          <a:ln>
            <a:solidFill>
              <a:srgbClr val="2731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14400" y="3758184"/>
            <a:ext cx="64008" cy="896112"/>
          </a:xfrm>
          <a:prstGeom prst="rect">
            <a:avLst/>
          </a:prstGeom>
          <a:solidFill>
            <a:srgbClr val="FFA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43000" y="3922776"/>
            <a:ext cx="9829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F0F4FC"/>
                </a:solidFill>
                <a:latin typeface="Aptos"/>
              </a:rPr>
              <a:t>AI + RAG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4325112"/>
            <a:ext cx="9829800" cy="21031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 b="0">
                <a:solidFill>
                  <a:srgbClr val="A5B0C8"/>
                </a:solidFill>
                <a:latin typeface="Aptos"/>
              </a:rPr>
              <a:t>Qwen LLM • Sentence Transformers • FAISS  |  Classification • Retrieval • Grounded generation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4928616"/>
            <a:ext cx="10241280" cy="896112"/>
          </a:xfrm>
          <a:prstGeom prst="roundRect">
            <a:avLst/>
          </a:prstGeom>
          <a:solidFill>
            <a:srgbClr val="141B30"/>
          </a:solidFill>
          <a:ln>
            <a:solidFill>
              <a:srgbClr val="2731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14400" y="4928616"/>
            <a:ext cx="64008" cy="896112"/>
          </a:xfrm>
          <a:prstGeom prst="rect">
            <a:avLst/>
          </a:prstGeom>
          <a:solidFill>
            <a:srgbClr val="3DD6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43000" y="5093207"/>
            <a:ext cx="9829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F0F4FC"/>
                </a:solidFill>
                <a:latin typeface="Aptos"/>
              </a:rPr>
              <a:t>DATA + ITSM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" y="5495544"/>
            <a:ext cx="9829800" cy="21031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 b="0">
                <a:solidFill>
                  <a:srgbClr val="A5B0C8"/>
                </a:solidFill>
                <a:latin typeface="Aptos"/>
              </a:rPr>
              <a:t>MongoDB Atlas • ServiceNow  |  Tickets • Requests • Audit logs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0" y="6419088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A5B0C8"/>
                </a:solidFill>
                <a:latin typeface="Apto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F0F4FC"/>
                </a:solidFill>
                <a:latin typeface="Aptos"/>
              </a:rPr>
              <a:t>RAG: Grounded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87552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A5B0C8"/>
                </a:solidFill>
                <a:latin typeface="Aptos"/>
              </a:rPr>
              <a:t>The LLM answers from approved IT knowledge — not from guesswork.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737360"/>
            <a:ext cx="1965960" cy="2057400"/>
          </a:xfrm>
          <a:prstGeom prst="roundRect">
            <a:avLst/>
          </a:prstGeom>
          <a:solidFill>
            <a:srgbClr val="141B30"/>
          </a:solidFill>
          <a:ln>
            <a:solidFill>
              <a:srgbClr val="2731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737360"/>
            <a:ext cx="64008" cy="2057400"/>
          </a:xfrm>
          <a:prstGeom prst="rect">
            <a:avLst/>
          </a:prstGeom>
          <a:solidFill>
            <a:srgbClr val="4CC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901952"/>
            <a:ext cx="1554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F0F4FC"/>
                </a:solidFill>
                <a:latin typeface="Aptos"/>
              </a:rPr>
              <a:t>Question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304288"/>
            <a:ext cx="155448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 b="0">
                <a:solidFill>
                  <a:srgbClr val="A5B0C8"/>
                </a:solidFill>
                <a:latin typeface="Aptos"/>
              </a:rPr>
              <a:t>Employee asks in natural language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70632" y="1737360"/>
            <a:ext cx="1965960" cy="2057400"/>
          </a:xfrm>
          <a:prstGeom prst="roundRect">
            <a:avLst/>
          </a:prstGeom>
          <a:solidFill>
            <a:srgbClr val="141B30"/>
          </a:solidFill>
          <a:ln>
            <a:solidFill>
              <a:srgbClr val="2731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70632" y="1737360"/>
            <a:ext cx="64008" cy="2057400"/>
          </a:xfrm>
          <a:prstGeom prst="rect">
            <a:avLst/>
          </a:prstGeom>
          <a:solidFill>
            <a:srgbClr val="7E57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99232" y="1901952"/>
            <a:ext cx="1554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F0F4FC"/>
                </a:solidFill>
                <a:latin typeface="Aptos"/>
              </a:rPr>
              <a:t>Embedding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99232" y="2304288"/>
            <a:ext cx="155448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 b="0">
                <a:solidFill>
                  <a:srgbClr val="A5B0C8"/>
                </a:solidFill>
                <a:latin typeface="Aptos"/>
              </a:rPr>
              <a:t>all-MiniLM-L6-v2 converts text to vectors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84064" y="1737360"/>
            <a:ext cx="1965960" cy="2057400"/>
          </a:xfrm>
          <a:prstGeom prst="roundRect">
            <a:avLst/>
          </a:prstGeom>
          <a:solidFill>
            <a:srgbClr val="141B30"/>
          </a:solidFill>
          <a:ln>
            <a:solidFill>
              <a:srgbClr val="2731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84064" y="1737360"/>
            <a:ext cx="64008" cy="2057400"/>
          </a:xfrm>
          <a:prstGeom prst="rect">
            <a:avLst/>
          </a:prstGeom>
          <a:solidFill>
            <a:srgbClr val="FFA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12664" y="1901952"/>
            <a:ext cx="1554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F0F4FC"/>
                </a:solidFill>
                <a:latin typeface="Aptos"/>
              </a:rPr>
              <a:t>FAISS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12664" y="2304288"/>
            <a:ext cx="155448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 b="0">
                <a:solidFill>
                  <a:srgbClr val="A5B0C8"/>
                </a:solidFill>
                <a:latin typeface="Aptos"/>
              </a:rPr>
              <a:t>Finds semantically relevant chunks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97496" y="1737360"/>
            <a:ext cx="1965960" cy="2057400"/>
          </a:xfrm>
          <a:prstGeom prst="roundRect">
            <a:avLst/>
          </a:prstGeom>
          <a:solidFill>
            <a:srgbClr val="141B30"/>
          </a:solidFill>
          <a:ln>
            <a:solidFill>
              <a:srgbClr val="2731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97496" y="1737360"/>
            <a:ext cx="64008" cy="2057400"/>
          </a:xfrm>
          <a:prstGeom prst="rect">
            <a:avLst/>
          </a:prstGeom>
          <a:solidFill>
            <a:srgbClr val="FFA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26096" y="1901952"/>
            <a:ext cx="1554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F0F4FC"/>
                </a:solidFill>
                <a:latin typeface="Aptos"/>
              </a:rPr>
              <a:t>Context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26096" y="2304288"/>
            <a:ext cx="155448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 b="0">
                <a:solidFill>
                  <a:srgbClr val="A5B0C8"/>
                </a:solidFill>
                <a:latin typeface="Aptos"/>
              </a:rPr>
              <a:t>Approved knowledge is supplied to the LLM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710928" y="1737360"/>
            <a:ext cx="1965960" cy="2057400"/>
          </a:xfrm>
          <a:prstGeom prst="roundRect">
            <a:avLst/>
          </a:prstGeom>
          <a:solidFill>
            <a:srgbClr val="141B30"/>
          </a:solidFill>
          <a:ln>
            <a:solidFill>
              <a:srgbClr val="2731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710928" y="1737360"/>
            <a:ext cx="64008" cy="2057400"/>
          </a:xfrm>
          <a:prstGeom prst="rect">
            <a:avLst/>
          </a:prstGeom>
          <a:solidFill>
            <a:srgbClr val="3DD6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939528" y="1901952"/>
            <a:ext cx="1554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F0F4FC"/>
                </a:solidFill>
                <a:latin typeface="Aptos"/>
              </a:rPr>
              <a:t>Answer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39528" y="2304288"/>
            <a:ext cx="155448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 b="0">
                <a:solidFill>
                  <a:srgbClr val="A5B0C8"/>
                </a:solidFill>
                <a:latin typeface="Aptos"/>
              </a:rPr>
              <a:t>Qwen generates a grounded response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43891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FF6384"/>
                </a:solidFill>
                <a:latin typeface="Aptos"/>
              </a:rPr>
              <a:t>Safety rule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74519" y="4334256"/>
            <a:ext cx="8961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F0F4FC"/>
                </a:solidFill>
                <a:latin typeface="Aptos"/>
              </a:rPr>
              <a:t>No relevant knowledge → no invented answer → human escalation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55680" y="6419088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A5B0C8"/>
                </a:solidFill>
                <a:latin typeface="Aptos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F0F4FC"/>
                </a:solidFill>
                <a:latin typeface="Aptos"/>
              </a:rPr>
              <a:t>Intelligent Ticket Intake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87552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A5B0C8"/>
                </a:solidFill>
                <a:latin typeface="Aptos"/>
              </a:rPr>
              <a:t>Natural language becomes a structured ITSM incident.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508760"/>
            <a:ext cx="4709160" cy="3383280"/>
          </a:xfrm>
          <a:prstGeom prst="roundRect">
            <a:avLst/>
          </a:prstGeom>
          <a:solidFill>
            <a:srgbClr val="141B30"/>
          </a:solidFill>
          <a:ln>
            <a:solidFill>
              <a:srgbClr val="2731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1508760"/>
            <a:ext cx="64008" cy="3383280"/>
          </a:xfrm>
          <a:prstGeom prst="rect">
            <a:avLst/>
          </a:prstGeom>
          <a:solidFill>
            <a:srgbClr val="4CC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73351"/>
            <a:ext cx="4297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F0F4FC"/>
                </a:solidFill>
                <a:latin typeface="Aptos"/>
              </a:rPr>
              <a:t>Employee says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75688"/>
            <a:ext cx="4297680" cy="2697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 b="0">
                <a:solidFill>
                  <a:srgbClr val="A5B0C8"/>
                </a:solidFill>
                <a:latin typeface="Aptos"/>
              </a:rPr>
              <a:t>“My VPN is not connecting and I cannot access the company network.”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715000" y="1508760"/>
            <a:ext cx="5715000" cy="3383280"/>
          </a:xfrm>
          <a:prstGeom prst="roundRect">
            <a:avLst/>
          </a:prstGeom>
          <a:solidFill>
            <a:srgbClr val="141B30"/>
          </a:solidFill>
          <a:ln>
            <a:solidFill>
              <a:srgbClr val="2731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715000" y="1508760"/>
            <a:ext cx="64008" cy="3383280"/>
          </a:xfrm>
          <a:prstGeom prst="rect">
            <a:avLst/>
          </a:prstGeom>
          <a:solidFill>
            <a:srgbClr val="3DD6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0" y="1673351"/>
            <a:ext cx="5303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F0F4FC"/>
                </a:solidFill>
                <a:latin typeface="Aptos"/>
              </a:rPr>
              <a:t>AI analysis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2075688"/>
            <a:ext cx="5303520" cy="2697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 b="0">
                <a:solidFill>
                  <a:srgbClr val="A5B0C8"/>
                </a:solidFill>
                <a:latin typeface="Aptos"/>
              </a:rPr>
              <a:t>Intent: Incident
Category: Network
Subcategory: VPN
Priority: P2
Impact: Individual
Urgency: High
Assignment: Network Support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49240" y="2788920"/>
            <a:ext cx="320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500" b="1">
                <a:solidFill>
                  <a:srgbClr val="4CC9F0"/>
                </a:solidFill>
                <a:latin typeface="Aptos"/>
              </a:rP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89320" y="5230368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700" b="1">
                <a:solidFill>
                  <a:srgbClr val="3DD68C"/>
                </a:solidFill>
                <a:latin typeface="Aptos"/>
              </a:rPr>
              <a:t>ServiceNow Incident Created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0" y="6419088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A5B0C8"/>
                </a:solidFill>
                <a:latin typeface="Aptos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F0F4FC"/>
                </a:solidFill>
                <a:latin typeface="Aptos"/>
              </a:rPr>
              <a:t>Self-Healing 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87552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A5B0C8"/>
                </a:solidFill>
                <a:latin typeface="Aptos"/>
              </a:rPr>
              <a:t>For approved issues, AI can orchestrate a controlled remediation workflow.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0040" y="1828800"/>
            <a:ext cx="1371600" cy="960120"/>
          </a:xfrm>
          <a:prstGeom prst="roundRect">
            <a:avLst/>
          </a:prstGeom>
          <a:solidFill>
            <a:srgbClr val="141B30"/>
          </a:solidFill>
          <a:ln>
            <a:solidFill>
              <a:srgbClr val="4CC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2139696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1">
                <a:solidFill>
                  <a:srgbClr val="4CC9F0"/>
                </a:solidFill>
                <a:latin typeface="Aptos"/>
              </a:rPr>
              <a:t>IDENTIFY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984248" y="1828800"/>
            <a:ext cx="1371600" cy="960120"/>
          </a:xfrm>
          <a:prstGeom prst="roundRect">
            <a:avLst/>
          </a:prstGeom>
          <a:solidFill>
            <a:srgbClr val="141B30"/>
          </a:solidFill>
          <a:ln>
            <a:solidFill>
              <a:srgbClr val="4CC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984248" y="2139696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1">
                <a:solidFill>
                  <a:srgbClr val="4CC9F0"/>
                </a:solidFill>
                <a:latin typeface="Aptos"/>
              </a:rPr>
              <a:t>DIAGNOSE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48456" y="1828800"/>
            <a:ext cx="1371600" cy="960120"/>
          </a:xfrm>
          <a:prstGeom prst="roundRect">
            <a:avLst/>
          </a:prstGeom>
          <a:solidFill>
            <a:srgbClr val="141B30"/>
          </a:solidFill>
          <a:ln>
            <a:solidFill>
              <a:srgbClr val="4CC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48456" y="2139696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1">
                <a:solidFill>
                  <a:srgbClr val="4CC9F0"/>
                </a:solidFill>
                <a:latin typeface="Aptos"/>
              </a:rPr>
              <a:t>KNOWLEDGE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12664" y="1828800"/>
            <a:ext cx="1371600" cy="960120"/>
          </a:xfrm>
          <a:prstGeom prst="roundRect">
            <a:avLst/>
          </a:prstGeom>
          <a:solidFill>
            <a:srgbClr val="141B30"/>
          </a:solidFill>
          <a:ln>
            <a:solidFill>
              <a:srgbClr val="4CC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12664" y="2139696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1">
                <a:solidFill>
                  <a:srgbClr val="4CC9F0"/>
                </a:solidFill>
                <a:latin typeface="Aptos"/>
              </a:rPr>
              <a:t>DETERMINE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976872" y="1828800"/>
            <a:ext cx="1371600" cy="960120"/>
          </a:xfrm>
          <a:prstGeom prst="roundRect">
            <a:avLst/>
          </a:prstGeom>
          <a:solidFill>
            <a:srgbClr val="141B30"/>
          </a:solidFill>
          <a:ln>
            <a:solidFill>
              <a:srgbClr val="3DD6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76872" y="2139696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1">
                <a:solidFill>
                  <a:srgbClr val="3DD68C"/>
                </a:solidFill>
                <a:latin typeface="Aptos"/>
              </a:rPr>
              <a:t>EXECUTE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41080" y="1828800"/>
            <a:ext cx="1371600" cy="960120"/>
          </a:xfrm>
          <a:prstGeom prst="roundRect">
            <a:avLst/>
          </a:prstGeom>
          <a:solidFill>
            <a:srgbClr val="141B30"/>
          </a:solidFill>
          <a:ln>
            <a:solidFill>
              <a:srgbClr val="3DD6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41080" y="2139696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1">
                <a:solidFill>
                  <a:srgbClr val="3DD68C"/>
                </a:solidFill>
                <a:latin typeface="Aptos"/>
              </a:rPr>
              <a:t>VALIDATE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305288" y="1828800"/>
            <a:ext cx="1371600" cy="960120"/>
          </a:xfrm>
          <a:prstGeom prst="roundRect">
            <a:avLst/>
          </a:prstGeom>
          <a:solidFill>
            <a:srgbClr val="141B30"/>
          </a:solidFill>
          <a:ln>
            <a:solidFill>
              <a:srgbClr val="3DD6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305288" y="2139696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1">
                <a:solidFill>
                  <a:srgbClr val="3DD68C"/>
                </a:solidFill>
                <a:latin typeface="Aptos"/>
              </a:rPr>
              <a:t>UPDATE ITSM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828800" y="3657600"/>
            <a:ext cx="8503920" cy="1417320"/>
          </a:xfrm>
          <a:prstGeom prst="roundRect">
            <a:avLst/>
          </a:prstGeom>
          <a:solidFill>
            <a:srgbClr val="141B30"/>
          </a:solidFill>
          <a:ln>
            <a:solidFill>
              <a:srgbClr val="2731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828800" y="3657600"/>
            <a:ext cx="64008" cy="1417320"/>
          </a:xfrm>
          <a:prstGeom prst="rect">
            <a:avLst/>
          </a:prstGeom>
          <a:solidFill>
            <a:srgbClr val="3DD6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057400" y="3822191"/>
            <a:ext cx="8092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F0F4FC"/>
                </a:solidFill>
                <a:latin typeface="Aptos"/>
              </a:rPr>
              <a:t>Demo: Password Expired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57400" y="4224528"/>
            <a:ext cx="80924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 b="0">
                <a:solidFill>
                  <a:srgbClr val="A5B0C8"/>
                </a:solidFill>
                <a:latin typeface="Aptos"/>
              </a:rPr>
              <a:t>Password reset → Access validation → ServiceNow resolved → Audit log recorded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5577840"/>
            <a:ext cx="10332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>
                <a:solidFill>
                  <a:srgbClr val="A5B0C8"/>
                </a:solidFill>
                <a:latin typeface="Aptos"/>
              </a:rPr>
              <a:t>Automation is limited to supported workflows; unsupported issues are escalated.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55680" y="6419088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A5B0C8"/>
                </a:solidFill>
                <a:latin typeface="Aptos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F0F4FC"/>
                </a:solidFill>
                <a:latin typeface="Aptos"/>
              </a:rPr>
              <a:t>One AI Front Door for Employees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87552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A5B0C8"/>
                </a:solidFill>
                <a:latin typeface="Aptos"/>
              </a:rPr>
              <a:t>The portal recognizes request types and routes them to the right workflow.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508760"/>
            <a:ext cx="5303520" cy="1783080"/>
          </a:xfrm>
          <a:prstGeom prst="roundRect">
            <a:avLst/>
          </a:prstGeom>
          <a:solidFill>
            <a:srgbClr val="141B30"/>
          </a:solidFill>
          <a:ln>
            <a:solidFill>
              <a:srgbClr val="2731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1508760"/>
            <a:ext cx="64008" cy="1783080"/>
          </a:xfrm>
          <a:prstGeom prst="rect">
            <a:avLst/>
          </a:prstGeom>
          <a:solidFill>
            <a:srgbClr val="4CC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73351"/>
            <a:ext cx="4892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F0F4FC"/>
                </a:solidFill>
                <a:latin typeface="Aptos"/>
              </a:rPr>
              <a:t>KNOWLEDGE QUESTION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075688"/>
            <a:ext cx="48920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 b="0">
                <a:solidFill>
                  <a:srgbClr val="A5B0C8"/>
                </a:solidFill>
                <a:latin typeface="Aptos"/>
              </a:rPr>
              <a:t>“How do I fix Outlook sync?”
→ RAG answer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508760"/>
            <a:ext cx="5303520" cy="1783080"/>
          </a:xfrm>
          <a:prstGeom prst="roundRect">
            <a:avLst/>
          </a:prstGeom>
          <a:solidFill>
            <a:srgbClr val="141B30"/>
          </a:solidFill>
          <a:ln>
            <a:solidFill>
              <a:srgbClr val="2731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72200" y="1508760"/>
            <a:ext cx="64008" cy="1783080"/>
          </a:xfrm>
          <a:prstGeom prst="rect">
            <a:avLst/>
          </a:prstGeom>
          <a:solidFill>
            <a:srgbClr val="FFA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673351"/>
            <a:ext cx="4892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F0F4FC"/>
                </a:solidFill>
                <a:latin typeface="Aptos"/>
              </a:rPr>
              <a:t>INCIDENT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075688"/>
            <a:ext cx="48920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 b="0">
                <a:solidFill>
                  <a:srgbClr val="A5B0C8"/>
                </a:solidFill>
                <a:latin typeface="Aptos"/>
              </a:rPr>
              <a:t>“My VPN is not working.”
→ Create / route incident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657600"/>
            <a:ext cx="5303520" cy="1783080"/>
          </a:xfrm>
          <a:prstGeom prst="roundRect">
            <a:avLst/>
          </a:prstGeom>
          <a:solidFill>
            <a:srgbClr val="141B30"/>
          </a:solidFill>
          <a:ln>
            <a:solidFill>
              <a:srgbClr val="2731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2920" y="3657600"/>
            <a:ext cx="64008" cy="1783080"/>
          </a:xfrm>
          <a:prstGeom prst="rect">
            <a:avLst/>
          </a:prstGeom>
          <a:solidFill>
            <a:srgbClr val="7E57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822191"/>
            <a:ext cx="4892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F0F4FC"/>
                </a:solidFill>
                <a:latin typeface="Aptos"/>
              </a:rPr>
              <a:t>SERVICE REQUEST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224528"/>
            <a:ext cx="48920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 b="0">
                <a:solidFill>
                  <a:srgbClr val="A5B0C8"/>
                </a:solidFill>
                <a:latin typeface="Aptos"/>
              </a:rPr>
              <a:t>“Install Visual Studio Code.”
→ Provisioning request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3657600"/>
            <a:ext cx="5303520" cy="1783080"/>
          </a:xfrm>
          <a:prstGeom prst="roundRect">
            <a:avLst/>
          </a:prstGeom>
          <a:solidFill>
            <a:srgbClr val="141B30"/>
          </a:solidFill>
          <a:ln>
            <a:solidFill>
              <a:srgbClr val="2731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72200" y="3657600"/>
            <a:ext cx="64008" cy="1783080"/>
          </a:xfrm>
          <a:prstGeom prst="rect">
            <a:avLst/>
          </a:prstGeom>
          <a:solidFill>
            <a:srgbClr val="3DD6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3822191"/>
            <a:ext cx="4892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F0F4FC"/>
                </a:solidFill>
                <a:latin typeface="Aptos"/>
              </a:rPr>
              <a:t>AUTOMATABLE ISSUE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4224528"/>
            <a:ext cx="48920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 b="0">
                <a:solidFill>
                  <a:srgbClr val="A5B0C8"/>
                </a:solidFill>
                <a:latin typeface="Aptos"/>
              </a:rPr>
              <a:t>“My password expired.”
→ Self-healing workflow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0" y="6419088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A5B0C8"/>
                </a:solidFill>
                <a:latin typeface="Aptos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F0F4FC"/>
                </a:solidFill>
                <a:latin typeface="Aptos"/>
              </a:rPr>
              <a:t>Enterprise Safety &amp; Control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87552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A5B0C8"/>
                </a:solidFill>
                <a:latin typeface="Aptos"/>
              </a:rPr>
              <a:t>Automation should be powerful — but bounded.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554480"/>
            <a:ext cx="5257800" cy="1645920"/>
          </a:xfrm>
          <a:prstGeom prst="roundRect">
            <a:avLst/>
          </a:prstGeom>
          <a:solidFill>
            <a:srgbClr val="141B30"/>
          </a:solidFill>
          <a:ln>
            <a:solidFill>
              <a:srgbClr val="2731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554480"/>
            <a:ext cx="64008" cy="1645920"/>
          </a:xfrm>
          <a:prstGeom prst="rect">
            <a:avLst/>
          </a:prstGeom>
          <a:solidFill>
            <a:srgbClr val="4CC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719072"/>
            <a:ext cx="4846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F0F4FC"/>
                </a:solidFill>
                <a:latin typeface="Aptos"/>
              </a:rPr>
              <a:t>GROUNDED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121408"/>
            <a:ext cx="484632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 b="0">
                <a:solidFill>
                  <a:srgbClr val="A5B0C8"/>
                </a:solidFill>
                <a:latin typeface="Aptos"/>
              </a:rPr>
              <a:t>Approved knowledge only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54480"/>
            <a:ext cx="5257800" cy="1645920"/>
          </a:xfrm>
          <a:prstGeom prst="roundRect">
            <a:avLst/>
          </a:prstGeom>
          <a:solidFill>
            <a:srgbClr val="141B30"/>
          </a:solidFill>
          <a:ln>
            <a:solidFill>
              <a:srgbClr val="2731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0" y="1554480"/>
            <a:ext cx="64008" cy="1645920"/>
          </a:xfrm>
          <a:prstGeom prst="rect">
            <a:avLst/>
          </a:prstGeom>
          <a:solidFill>
            <a:srgbClr val="3DD6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719072"/>
            <a:ext cx="4846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F0F4FC"/>
                </a:solidFill>
                <a:latin typeface="Aptos"/>
              </a:rPr>
              <a:t>CONTROLLED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2121408"/>
            <a:ext cx="484632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 b="0">
                <a:solidFill>
                  <a:srgbClr val="A5B0C8"/>
                </a:solidFill>
                <a:latin typeface="Aptos"/>
              </a:rPr>
              <a:t>Only supported automations can execute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566160"/>
            <a:ext cx="5257800" cy="1645920"/>
          </a:xfrm>
          <a:prstGeom prst="roundRect">
            <a:avLst/>
          </a:prstGeom>
          <a:solidFill>
            <a:srgbClr val="141B30"/>
          </a:solidFill>
          <a:ln>
            <a:solidFill>
              <a:srgbClr val="2731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3566160"/>
            <a:ext cx="64008" cy="1645920"/>
          </a:xfrm>
          <a:prstGeom prst="rect">
            <a:avLst/>
          </a:prstGeom>
          <a:solidFill>
            <a:srgbClr val="FFA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730752"/>
            <a:ext cx="4846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F0F4FC"/>
                </a:solidFill>
                <a:latin typeface="Aptos"/>
              </a:rPr>
              <a:t>HUMAN-IN-THE-LOOP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133088"/>
            <a:ext cx="484632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 b="0">
                <a:solidFill>
                  <a:srgbClr val="A5B0C8"/>
                </a:solidFill>
                <a:latin typeface="Aptos"/>
              </a:rPr>
              <a:t>Unsupported / insufficient knowledge → Service Desk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3566160"/>
            <a:ext cx="5257800" cy="1645920"/>
          </a:xfrm>
          <a:prstGeom prst="roundRect">
            <a:avLst/>
          </a:prstGeom>
          <a:solidFill>
            <a:srgbClr val="141B30"/>
          </a:solidFill>
          <a:ln>
            <a:solidFill>
              <a:srgbClr val="2731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7920" y="3566160"/>
            <a:ext cx="64008" cy="1645920"/>
          </a:xfrm>
          <a:prstGeom prst="rect">
            <a:avLst/>
          </a:prstGeom>
          <a:solidFill>
            <a:srgbClr val="7E57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3730752"/>
            <a:ext cx="4846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F0F4FC"/>
                </a:solidFill>
                <a:latin typeface="Aptos"/>
              </a:rPr>
              <a:t>AUDITABLE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4133088"/>
            <a:ext cx="484632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 b="0">
                <a:solidFill>
                  <a:srgbClr val="A5B0C8"/>
                </a:solidFill>
                <a:latin typeface="Aptos"/>
              </a:rPr>
              <a:t>Automated actions are recorded in MongoDB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715000"/>
            <a:ext cx="10332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0F4FC"/>
                </a:solidFill>
                <a:latin typeface="Aptos"/>
              </a:rPr>
              <a:t>Design principle: AI should know when it does not know.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55680" y="6419088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A5B0C8"/>
                </a:solidFill>
                <a:latin typeface="Aptos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F0F4FC"/>
                </a:solidFill>
                <a:latin typeface="Aptos"/>
              </a:rPr>
              <a:t>Future Vision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87552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A5B0C8"/>
                </a:solidFill>
                <a:latin typeface="Aptos"/>
              </a:rPr>
              <a:t>From AI helpdesk → AI IT operations platform.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417320"/>
            <a:ext cx="3520440" cy="1783080"/>
          </a:xfrm>
          <a:prstGeom prst="roundRect">
            <a:avLst/>
          </a:prstGeom>
          <a:solidFill>
            <a:srgbClr val="141B30"/>
          </a:solidFill>
          <a:ln>
            <a:solidFill>
              <a:srgbClr val="2731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1417320"/>
            <a:ext cx="64008" cy="1783080"/>
          </a:xfrm>
          <a:prstGeom prst="rect">
            <a:avLst/>
          </a:prstGeom>
          <a:solidFill>
            <a:srgbClr val="4CC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581912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F0F4FC"/>
                </a:solidFill>
                <a:latin typeface="Aptos"/>
              </a:rPr>
              <a:t>REAL ITSM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984248"/>
            <a:ext cx="31089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 b="0">
                <a:solidFill>
                  <a:srgbClr val="A5B0C8"/>
                </a:solidFill>
                <a:latin typeface="Aptos"/>
              </a:rPr>
              <a:t>Live ServiceNow REST integration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417320"/>
            <a:ext cx="3520440" cy="1783080"/>
          </a:xfrm>
          <a:prstGeom prst="roundRect">
            <a:avLst/>
          </a:prstGeom>
          <a:solidFill>
            <a:srgbClr val="141B30"/>
          </a:solidFill>
          <a:ln>
            <a:solidFill>
              <a:srgbClr val="2731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43400" y="1417320"/>
            <a:ext cx="64008" cy="1783080"/>
          </a:xfrm>
          <a:prstGeom prst="rect">
            <a:avLst/>
          </a:prstGeom>
          <a:solidFill>
            <a:srgbClr val="7E57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581912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F0F4FC"/>
                </a:solidFill>
                <a:latin typeface="Aptos"/>
              </a:rPr>
              <a:t>IDENTITY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1984248"/>
            <a:ext cx="31089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 b="0">
                <a:solidFill>
                  <a:srgbClr val="A5B0C8"/>
                </a:solidFill>
                <a:latin typeface="Aptos"/>
              </a:rPr>
              <a:t>Entra ID / SSO / real RBAC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83880" y="1417320"/>
            <a:ext cx="3520440" cy="1783080"/>
          </a:xfrm>
          <a:prstGeom prst="roundRect">
            <a:avLst/>
          </a:prstGeom>
          <a:solidFill>
            <a:srgbClr val="141B30"/>
          </a:solidFill>
          <a:ln>
            <a:solidFill>
              <a:srgbClr val="2731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183880" y="1417320"/>
            <a:ext cx="64008" cy="1783080"/>
          </a:xfrm>
          <a:prstGeom prst="rect">
            <a:avLst/>
          </a:prstGeom>
          <a:solidFill>
            <a:srgbClr val="3DD6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0" y="1581912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F0F4FC"/>
                </a:solidFill>
                <a:latin typeface="Aptos"/>
              </a:rPr>
              <a:t>ENDPOINTS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1984248"/>
            <a:ext cx="31089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 b="0">
                <a:solidFill>
                  <a:srgbClr val="A5B0C8"/>
                </a:solidFill>
                <a:latin typeface="Aptos"/>
              </a:rPr>
              <a:t>Intune / SCCM / Jamf automation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3566160"/>
            <a:ext cx="3520440" cy="1783080"/>
          </a:xfrm>
          <a:prstGeom prst="roundRect">
            <a:avLst/>
          </a:prstGeom>
          <a:solidFill>
            <a:srgbClr val="141B30"/>
          </a:solidFill>
          <a:ln>
            <a:solidFill>
              <a:srgbClr val="2731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920" y="3566160"/>
            <a:ext cx="64008" cy="1783080"/>
          </a:xfrm>
          <a:prstGeom prst="rect">
            <a:avLst/>
          </a:prstGeom>
          <a:solidFill>
            <a:srgbClr val="FFA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3730752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F0F4FC"/>
                </a:solidFill>
                <a:latin typeface="Aptos"/>
              </a:rPr>
              <a:t>KNOWLEDGE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133088"/>
            <a:ext cx="31089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 b="0">
                <a:solidFill>
                  <a:srgbClr val="A5B0C8"/>
                </a:solidFill>
                <a:latin typeface="Aptos"/>
              </a:rPr>
              <a:t>SharePoint / Confluence / ServiceNow KB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43400" y="3566160"/>
            <a:ext cx="3520440" cy="1783080"/>
          </a:xfrm>
          <a:prstGeom prst="roundRect">
            <a:avLst/>
          </a:prstGeom>
          <a:solidFill>
            <a:srgbClr val="141B30"/>
          </a:solidFill>
          <a:ln>
            <a:solidFill>
              <a:srgbClr val="2731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343400" y="3566160"/>
            <a:ext cx="64008" cy="1783080"/>
          </a:xfrm>
          <a:prstGeom prst="rect">
            <a:avLst/>
          </a:prstGeom>
          <a:solidFill>
            <a:srgbClr val="4CC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0" y="3730752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F0F4FC"/>
                </a:solidFill>
                <a:latin typeface="Aptos"/>
              </a:rPr>
              <a:t>PROACTIVE IT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4133088"/>
            <a:ext cx="31089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 b="0">
                <a:solidFill>
                  <a:srgbClr val="A5B0C8"/>
                </a:solidFill>
                <a:latin typeface="Aptos"/>
              </a:rPr>
              <a:t>Device telemetry + predictive incidents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83880" y="3566160"/>
            <a:ext cx="3520440" cy="1783080"/>
          </a:xfrm>
          <a:prstGeom prst="roundRect">
            <a:avLst/>
          </a:prstGeom>
          <a:solidFill>
            <a:srgbClr val="141B30"/>
          </a:solidFill>
          <a:ln>
            <a:solidFill>
              <a:srgbClr val="2731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183880" y="3566160"/>
            <a:ext cx="64008" cy="1783080"/>
          </a:xfrm>
          <a:prstGeom prst="rect">
            <a:avLst/>
          </a:prstGeom>
          <a:solidFill>
            <a:srgbClr val="7E57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12480" y="3730752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F0F4FC"/>
                </a:solidFill>
                <a:latin typeface="Aptos"/>
              </a:rPr>
              <a:t>AIOps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0" y="4133088"/>
            <a:ext cx="31089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 b="0">
                <a:solidFill>
                  <a:srgbClr val="A5B0C8"/>
                </a:solidFill>
                <a:latin typeface="Aptos"/>
              </a:rPr>
              <a:t>Root-cause analysis + SLA risk + trend detection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5806440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F0F4FC"/>
                </a:solidFill>
                <a:latin typeface="Aptos"/>
              </a:rPr>
              <a:t>Today: resolve requests faster.   |   Tomorrow: prevent IT problems before employees report them.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55680" y="6419088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A5B0C8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82296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4CC9F0"/>
                </a:solidFill>
                <a:latin typeface="Aptos"/>
              </a:rPr>
              <a:t>LIVE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400" b="1">
                <a:solidFill>
                  <a:srgbClr val="F0F4FC"/>
                </a:solidFill>
                <a:latin typeface="Aptos"/>
              </a:rPr>
              <a:t>See AI turn an employee request
into an IT operation.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28800" y="3566160"/>
            <a:ext cx="2514600" cy="347472"/>
          </a:xfrm>
          <a:prstGeom prst="roundRect">
            <a:avLst/>
          </a:prstGeom>
          <a:solidFill>
            <a:srgbClr val="19233C"/>
          </a:solidFill>
          <a:ln>
            <a:solidFill>
              <a:srgbClr val="4CC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0" y="3584448"/>
            <a:ext cx="2514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1">
                <a:solidFill>
                  <a:srgbClr val="4CC9F0"/>
                </a:solidFill>
                <a:latin typeface="Aptos"/>
              </a:rPr>
              <a:t>VPN Incident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709160" y="3566160"/>
            <a:ext cx="2514600" cy="347472"/>
          </a:xfrm>
          <a:prstGeom prst="roundRect">
            <a:avLst/>
          </a:prstGeom>
          <a:solidFill>
            <a:srgbClr val="19233C"/>
          </a:solidFill>
          <a:ln>
            <a:solidFill>
              <a:srgbClr val="3DD6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09160" y="3584448"/>
            <a:ext cx="2514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1">
                <a:solidFill>
                  <a:srgbClr val="3DD68C"/>
                </a:solidFill>
                <a:latin typeface="Aptos"/>
              </a:rPr>
              <a:t>Password Self-Heal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89520" y="3566160"/>
            <a:ext cx="2514600" cy="347472"/>
          </a:xfrm>
          <a:prstGeom prst="roundRect">
            <a:avLst/>
          </a:prstGeom>
          <a:solidFill>
            <a:srgbClr val="19233C"/>
          </a:solidFill>
          <a:ln>
            <a:solidFill>
              <a:srgbClr val="7E5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3584448"/>
            <a:ext cx="2514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1">
                <a:solidFill>
                  <a:srgbClr val="7E57C2"/>
                </a:solidFill>
                <a:latin typeface="Aptos"/>
              </a:rPr>
              <a:t>Outlook RAG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828800" y="4297680"/>
            <a:ext cx="2514600" cy="347472"/>
          </a:xfrm>
          <a:prstGeom prst="roundRect">
            <a:avLst/>
          </a:prstGeom>
          <a:solidFill>
            <a:srgbClr val="19233C"/>
          </a:solidFill>
          <a:ln>
            <a:solidFill>
              <a:srgbClr val="FFA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828800" y="4315968"/>
            <a:ext cx="2514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1">
                <a:solidFill>
                  <a:srgbClr val="FFAE50"/>
                </a:solidFill>
                <a:latin typeface="Aptos"/>
              </a:rPr>
              <a:t>VS Code Provisioning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709160" y="4297680"/>
            <a:ext cx="2514600" cy="347472"/>
          </a:xfrm>
          <a:prstGeom prst="roundRect">
            <a:avLst/>
          </a:prstGeom>
          <a:solidFill>
            <a:srgbClr val="19233C"/>
          </a:solidFill>
          <a:ln>
            <a:solidFill>
              <a:srgbClr val="FF63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09160" y="4315968"/>
            <a:ext cx="2514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1">
                <a:solidFill>
                  <a:srgbClr val="FF6384"/>
                </a:solidFill>
                <a:latin typeface="Aptos"/>
              </a:rPr>
              <a:t>Safe Escalation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0" y="5669280"/>
            <a:ext cx="44805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F0F4FC"/>
                </a:solidFill>
                <a:latin typeface="Aptos"/>
              </a:rPr>
              <a:t>AI ITSM Helpdesk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0" y="6419088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A5B0C8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